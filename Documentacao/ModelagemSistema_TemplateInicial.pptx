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1" r:id="rId2"/>
    <p:sldId id="2563" r:id="rId3"/>
    <p:sldId id="2565" r:id="rId4"/>
    <p:sldId id="2576" r:id="rId5"/>
    <p:sldId id="2577" r:id="rId6"/>
    <p:sldId id="2578" r:id="rId7"/>
    <p:sldId id="2579" r:id="rId8"/>
    <p:sldId id="2580" r:id="rId9"/>
    <p:sldId id="2581" r:id="rId10"/>
    <p:sldId id="2582" r:id="rId11"/>
    <p:sldId id="2587" r:id="rId12"/>
    <p:sldId id="2566" r:id="rId13"/>
    <p:sldId id="2583" r:id="rId14"/>
    <p:sldId id="2585" r:id="rId15"/>
    <p:sldId id="2584" r:id="rId16"/>
    <p:sldId id="2589" r:id="rId17"/>
    <p:sldId id="2588" r:id="rId18"/>
    <p:sldId id="2567" r:id="rId19"/>
    <p:sldId id="2568" r:id="rId20"/>
    <p:sldId id="2586" r:id="rId21"/>
    <p:sldId id="25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DA81E-B6DD-4CA0-9C2D-B0C27B95DC2C}" type="datetimeFigureOut">
              <a:rPr lang="pt-BR" smtClean="0"/>
              <a:t>27/01/2025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ACE72-845C-4C82-9104-9C4FDA2BC0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28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conteúdos gerados pela IA podem estar incorretos.
---
Esta apresentação oferece um resumo da documentação do projeto, abordando elementos essenciais como o Diagrama Entidade-Relacionamento, requisitos funcionais e não funcionais, wireframe e estrutura do banco de dados.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4742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projeto visa desenvolver um sistema que atenda às necessidades específicas dos usuários. Neste slide, iremos fornecer uma breve descrição do objetivo do projeto, seu escopo e a importância de sua implementação.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842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323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D02F-07C1-89D0-1040-9B5A8EAA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ECCAE29-7A9D-A41F-1BA4-0F00CF8FB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A03109-27B6-D74E-EC2E-48A1149ED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7189CE-6B5C-CD09-70E8-EAE065D08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453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E7731-0869-6845-FD7A-736591987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A5D747-5642-84A6-F201-0D388F8CB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DBF42F-BBE0-0DFB-C2FC-E62AD84E9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51CD14-C5AA-11A5-AEB6-92886D4D3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670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B1719-33C1-3000-EDA3-339AAFA8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60B08B-EE9C-C471-472D-9A8916C0D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BE20BD8-500C-FF2B-4DEA-7F223F39E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F89025-0CC5-9EB9-CC2E-91BCA0728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6388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46CD-A4FE-9B2F-502F-19140DDE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431A0B6-0493-7094-CE50-7BA97BC94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B7518D-3EDA-94D1-1AB8-3F1C8DC8A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A71158-AD40-B942-47EC-D25892476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462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06F1-6BFD-5C4B-2FB6-EFF39D5D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14C6CE-B405-0089-9F5C-9EFEBEAC3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9C3F6C-95A1-C768-2473-B5A1975ED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BE3511-AEC6-08C1-F907-854F34C8C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8334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4A25C-1BF9-8B1B-A3B7-34830E35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591DD7-DC2D-E118-F256-51DCC756D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9F2C59-7C07-4102-BA30-B4EC4A358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4F9DED-E24D-DC60-076F-8606CE288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8222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7B22-1EE7-49D3-2071-2B1B1663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1C5F19-9F0B-9D28-11B0-FDE2808AB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F7961C-B206-449E-1C65-4F0FB4BA0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875489-F6BA-266C-AC87-782478025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192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7B22-1EE7-49D3-2071-2B1B1663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1C5F19-9F0B-9D28-11B0-FDE2808AB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F7961C-B206-449E-1C65-4F0FB4BA0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875489-F6BA-266C-AC87-782478025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526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Neste slide, apresentaremos as principais entidades identificadas no DER, como Usuário, Produto e Pedido, e descreveremos como essas entidades se relacionam entre si. Essa visualização é essencial para o desenvolvimento eficaz do banco de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692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E785-9F3D-B4F3-DBD7-AEC584B4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904966-9964-4E7A-C7AB-D8B56D449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2052A5-CA2E-CCA8-E8E9-A4FCDD46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9FAEDC-01E6-0757-0B11-CDA2E99BD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660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58249-486C-768F-A9A2-E1C45FF9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3D3064-37E2-A08B-B67E-D0BDF678B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9255BE-D866-6F4C-1785-B44C4C921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33254D-078E-0492-BCD8-F2990DC2C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064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58249-486C-768F-A9A2-E1C45FF9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3D3064-37E2-A08B-B67E-D0BDF678B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9255BE-D866-6F4C-1785-B44C4C921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33254D-078E-0492-BCD8-F2990DC2C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279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58249-486C-768F-A9A2-E1C45FF9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3D3064-37E2-A08B-B67E-D0BDF678B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9255BE-D866-6F4C-1785-B44C4C921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33254D-078E-0492-BCD8-F2990DC2C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2152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58249-486C-768F-A9A2-E1C45FF9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3D3064-37E2-A08B-B67E-D0BDF678B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9255BE-D866-6F4C-1785-B44C4C921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Diagrama Entidade-Relacionamento (DER) é uma ferramenta visual que descreve a estrutura do banco de dados do sistema. Ele ilustra as principais entidades, seus atributos e os relacionamentos entre elas, ajudando a entender a lógica do banco de dados.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33254D-078E-0492-BCD8-F2990DC2C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9662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requisitos funcionais definem as ações que o sistema deve ser capaz de realizar. Neste slide, listaremos os principais requisitos funcionais, incluindo funções como cadastro de usuários, geração de relatórios e consulta de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7684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Aqui, detalharemos alguns exemplos de requisitos funcionais, como 'O sistema deve permitir que o usuário faça login com credenciais válidas' e 'O sistema deve gerar relatórios mensais de vendas'. Estes requisitos são cruciais para orientar o desenvolvimento do sistema.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1075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Aqui, detalharemos alguns exemplos de requisitos funcionais, como 'O sistema deve permitir que o usuário faça login com credenciais válidas' e 'O sistema deve gerar relatórios mensais de vendas'. Estes requisitos são cruciais para orientar o desenvolvimento do sistema.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1767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requisitos não funcionais definem as características do sistema, como desempenho, segurança e usabilidade. Neste slide, discutiremos os principais requisitos não funcionais que o sistema deve atender.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85D-1FC8-4645-A278-0F485466CD9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580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37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7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6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6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9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2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7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0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1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84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8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E5028B-BC6E-A4CE-25D1-0D609D1AE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7415060" cy="3685731"/>
          </a:xfrm>
        </p:spPr>
        <p:txBody>
          <a:bodyPr anchor="t">
            <a:normAutofit/>
          </a:bodyPr>
          <a:lstStyle/>
          <a:p>
            <a:pPr algn="l"/>
            <a:r>
              <a:rPr lang="pt-BR" sz="5600" dirty="0"/>
              <a:t>PROJETO </a:t>
            </a:r>
            <a:br>
              <a:rPr lang="pt-BR" sz="5600" dirty="0"/>
            </a:br>
            <a:r>
              <a:rPr lang="pt-BR" sz="5600" dirty="0"/>
              <a:t>ALMOXARIFADO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B2DD6-BA01-E45F-79B9-D3303D657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pt-BR" sz="2200" dirty="0"/>
              <a:t>Nome do Aluno</a:t>
            </a:r>
          </a:p>
        </p:txBody>
      </p:sp>
    </p:spTree>
    <p:extLst>
      <p:ext uri="{BB962C8B-B14F-4D97-AF65-F5344CB8AC3E}">
        <p14:creationId xmlns:p14="http://schemas.microsoft.com/office/powerpoint/2010/main" val="3072685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lustração 3D.">
            <a:extLst>
              <a:ext uri="{FF2B5EF4-FFF2-40B4-BE49-F238E27FC236}">
                <a16:creationId xmlns:a16="http://schemas.microsoft.com/office/drawing/2014/main" id="{5AE52070-2197-4C47-AD66-664AE4BABC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46300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804F46E-89A6-0254-3C0B-A8EFB0256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7" y="-419907"/>
            <a:ext cx="59161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Introdução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ao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projeto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724719-90E6-28A0-6F62-77C265C4C375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68537" y="2214282"/>
            <a:ext cx="5916168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 dirty="0"/>
              <a:t>Objetivo do Projeto</a:t>
            </a:r>
          </a:p>
          <a:p>
            <a:pPr marL="0" lvl="1" indent="0">
              <a:buNone/>
            </a:pPr>
            <a:r>
              <a:rPr lang="pt-BR" sz="1400" dirty="0"/>
              <a:t>O objetivo principal do projeto é desenvolver um sistema que atenda de forma eficaz às necessidades dos usuários de um sistema de Almoxarifado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b="1" dirty="0"/>
              <a:t>Escopo do Projeto</a:t>
            </a:r>
          </a:p>
          <a:p>
            <a:pPr marL="0" lvl="1" indent="0">
              <a:buNone/>
            </a:pPr>
            <a:r>
              <a:rPr lang="pt-BR" sz="1400" dirty="0"/>
              <a:t>O escopo do projeto abrange todas as funcionalidades e requisitos que o sistema deve atender, garantindo uma entrega completa e eficiente.</a:t>
            </a:r>
          </a:p>
        </p:txBody>
      </p:sp>
    </p:spTree>
    <p:extLst>
      <p:ext uri="{BB962C8B-B14F-4D97-AF65-F5344CB8AC3E}">
        <p14:creationId xmlns:p14="http://schemas.microsoft.com/office/powerpoint/2010/main" val="17394517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5CCD66-A97F-A354-45EA-76C3AAA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-214884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CENÁRIO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7CC6BD-7C78-94FA-A6A4-ECBB06F839F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68502" y="1381461"/>
            <a:ext cx="11444455" cy="4095078"/>
          </a:xfrm>
        </p:spPr>
        <p:txBody>
          <a:bodyPr>
            <a:no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 Prefeitura Municipal de Nova Esperança realiza compras regulares de materiais de consumo e permanentes para atender às demandas de suas diversas secretarias, como Saúde, Educação, Obras e Administração. Esses materiais incluem desde itens básicos, como papel, canetas e material de limpeza, até equipamentos maiores, como computadores, móveis e ferramentas.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Atualmente, o gerenciamento desses materiais é feito de forma manual, o que tem gerado problemas recorrentes, como:</a:t>
            </a:r>
          </a:p>
          <a:p>
            <a:pPr>
              <a:spcBef>
                <a:spcPts val="2500"/>
              </a:spcBef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Falta de controle sobre o estoque mínimo, resultando na ausência de itens essenciais.</a:t>
            </a:r>
          </a:p>
          <a:p>
            <a:pPr>
              <a:spcBef>
                <a:spcPts val="2500"/>
              </a:spcBef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Excesso de produtos desnecessários, que ocupam espaço e geram custos adicionais.</a:t>
            </a:r>
          </a:p>
          <a:p>
            <a:pPr>
              <a:spcBef>
                <a:spcPts val="2500"/>
              </a:spcBef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Dificuldade para rastrear as solicitações e entregas realizadas por cada secretaria.</a:t>
            </a:r>
          </a:p>
          <a:p>
            <a:pPr>
              <a:spcBef>
                <a:spcPts val="2500"/>
              </a:spcBef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Falhas na prestação de contas e na auditoria devido à ausência de dados consolidados e relatórios precisos.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Para resolver esses problemas, a prefeitura decidiu implementar um sistema de almoxarifado web que permita o gerenciamento centralizado do estoque de materiais. Esse sistema será utilizado tanto pelo almoxarifado principal quanto pelos almoxarifados das secretarias que demandarem controle específico de seus </a:t>
            </a:r>
          </a:p>
        </p:txBody>
      </p:sp>
    </p:spTree>
    <p:extLst>
      <p:ext uri="{BB962C8B-B14F-4D97-AF65-F5344CB8AC3E}">
        <p14:creationId xmlns:p14="http://schemas.microsoft.com/office/powerpoint/2010/main" val="2056434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CA66C-0EF7-1894-76F3-C62E3310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D40FB4-97DC-F5FF-9E7A-C10E078A15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814CED-5FC4-BEB3-CF56-B1C47F93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-214884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Cadastro de Produtos: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C8BFA4-590B-EFEF-D71B-13273B10F108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1533" y="1527048"/>
            <a:ext cx="10890664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 sistema deve permitir o registro de todos os materiais, diferenciando-os entre materiais de consumo (como papel e materiais de limpeza) e materiais permanentes (como cadeiras e equipamentos eletrônicos).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Cada item cadastrado deve conter: código único, nome, descrição, categoria (consumo ou permanente), quantidade mínima, unidade de medida (ex.: unidades, pacotes, quilos), preço estimado, e fornecedor.</a:t>
            </a:r>
          </a:p>
        </p:txBody>
      </p:sp>
    </p:spTree>
    <p:extLst>
      <p:ext uri="{BB962C8B-B14F-4D97-AF65-F5344CB8AC3E}">
        <p14:creationId xmlns:p14="http://schemas.microsoft.com/office/powerpoint/2010/main" val="24224233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E450C-3284-7D6A-26B9-CF093C02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1D6A68-C3BD-3399-CCA8-A7290FC8E0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7B2EBA-4C50-A422-4631-38FA3BA7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-214884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Controle de Estoque: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841E46-82B9-28A3-FAB8-E3D4419CA42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1533" y="1527048"/>
            <a:ext cx="10890664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Registrar entradas de produtos adquiridos por meio de notas fiscais ou transferências de outro almoxarifado.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Controlar as saídas de materiais para as secretarias solicitantes, com emissão de requisições e comprovantes de entrega. Atualizar automaticamente o saldo em estoque após cada movimentação.</a:t>
            </a:r>
          </a:p>
        </p:txBody>
      </p:sp>
    </p:spTree>
    <p:extLst>
      <p:ext uri="{BB962C8B-B14F-4D97-AF65-F5344CB8AC3E}">
        <p14:creationId xmlns:p14="http://schemas.microsoft.com/office/powerpoint/2010/main" val="34793862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0BD00-BB96-A5C0-6B53-CF70A892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39A533-5E9C-439F-5CF1-06FFAB778C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85AD78-A390-44F7-B831-592FA3094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-214884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Gestão de Requisições: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832666-4528-952F-DDF1-C3A07C21AD56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1533" y="1527048"/>
            <a:ext cx="10890664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Permitir que as secretarias realizem solicitações de materiais diretamente pelo sistema.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Acompanhar o status da solicitação (pendente, atendida, parcialmente atendida, ou rejeitada).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Registrar o motivo de rejeição, se aplicável.</a:t>
            </a:r>
          </a:p>
        </p:txBody>
      </p:sp>
    </p:spTree>
    <p:extLst>
      <p:ext uri="{BB962C8B-B14F-4D97-AF65-F5344CB8AC3E}">
        <p14:creationId xmlns:p14="http://schemas.microsoft.com/office/powerpoint/2010/main" val="21322379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1C6446-DB0C-5144-9447-C351313E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2A2D76-411A-C189-4AD9-6426869968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8774DB-4AEA-7BA1-049A-B1413658C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-214884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Relatórios e Transparência: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B205D8-863A-879F-7A1C-4F86078F8602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1533" y="1527048"/>
            <a:ext cx="10890664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Gerar relatórios detalhados de entradas e saídas por período, secretaria, ou tipo de material.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Emitir relatórios financeiros com o custo total de materiais comprados e utilizados.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Criar gráficos com a projeção do consumo para melhor planejamento</a:t>
            </a:r>
          </a:p>
        </p:txBody>
      </p:sp>
    </p:spTree>
    <p:extLst>
      <p:ext uri="{BB962C8B-B14F-4D97-AF65-F5344CB8AC3E}">
        <p14:creationId xmlns:p14="http://schemas.microsoft.com/office/powerpoint/2010/main" val="19115550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C585D-EC44-C267-B574-5096BCA8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82AA53-DA69-E258-8B64-8F8CE86FCD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DEF611-59DF-343D-DBC5-5163969F8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-214884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Controle de Usuários e Permissões: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4ED402-5C98-8C06-91A2-7F6C2FCC6DE8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1533" y="1527048"/>
            <a:ext cx="10890664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 sistema deve permitir diferentes níveis de acesso: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Administradores: Acesso total ao sistema.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Almoxarifes: Controle de estoque e movimentações.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Solicitantes (Secretarias): Apenas solicitação de materiais e consulta de status.</a:t>
            </a:r>
          </a:p>
        </p:txBody>
      </p:sp>
    </p:spTree>
    <p:extLst>
      <p:ext uri="{BB962C8B-B14F-4D97-AF65-F5344CB8AC3E}">
        <p14:creationId xmlns:p14="http://schemas.microsoft.com/office/powerpoint/2010/main" val="26088378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7B05E-3C40-604A-1697-55218517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27E16A-554C-D4AC-900E-AA69DDAEDE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1FD698-770F-206D-5FFE-5D262482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-214884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Controle de Usuários e Permissões: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30D680-D32A-9F14-6156-D8028BE7C584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1533" y="1527048"/>
            <a:ext cx="10890664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 sistema deve permitir diferentes níveis de acesso: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Administradores: Acesso total ao sistema.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Almoxarifes: Controle de estoque e movimentações.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Solicitantes (Secretarias): Apenas solicitação de materiais e consulta de status.</a:t>
            </a:r>
          </a:p>
        </p:txBody>
      </p:sp>
    </p:spTree>
    <p:extLst>
      <p:ext uri="{BB962C8B-B14F-4D97-AF65-F5344CB8AC3E}">
        <p14:creationId xmlns:p14="http://schemas.microsoft.com/office/powerpoint/2010/main" val="9913827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A7F83-F982-A2B6-8BDD-90AB35D5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EA76C7-8C08-E029-0E79-750B71C94A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EF25F5-F22F-2CF9-C788-AA2BDEC6E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-214884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Resum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do Fluxo do Sistema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4F39B7-8DF3-EF44-7DC3-3046CC72137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1533" y="1527048"/>
            <a:ext cx="10890664" cy="4095078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2500"/>
              </a:spcBef>
              <a:buFont typeface="+mj-lt"/>
              <a:buAutoNum type="arabicPeriod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 almoxarifado cadastra novos materiais no sistema.</a:t>
            </a:r>
          </a:p>
          <a:p>
            <a:pPr marL="342900" indent="-342900">
              <a:spcBef>
                <a:spcPts val="2500"/>
              </a:spcBef>
              <a:buFont typeface="+mj-lt"/>
              <a:buAutoNum type="arabicPeriod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 secretaria solicita materiais necessários para suas atividades.</a:t>
            </a:r>
          </a:p>
          <a:p>
            <a:pPr marL="342900" indent="-342900">
              <a:spcBef>
                <a:spcPts val="2500"/>
              </a:spcBef>
              <a:buFont typeface="+mj-lt"/>
              <a:buAutoNum type="arabicPeriod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 almoxarifado avalia o pedido e realiza a separação do material solicitado.</a:t>
            </a:r>
          </a:p>
          <a:p>
            <a:pPr marL="342900" indent="-342900">
              <a:spcBef>
                <a:spcPts val="2500"/>
              </a:spcBef>
              <a:buFont typeface="+mj-lt"/>
              <a:buAutoNum type="arabicPeriod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Após a entrega, o sistema atualiza o estoque e emite o comprovante da movimentação.</a:t>
            </a:r>
          </a:p>
          <a:p>
            <a:pPr marL="342900" indent="-342900">
              <a:spcBef>
                <a:spcPts val="2500"/>
              </a:spcBef>
              <a:buFont typeface="+mj-lt"/>
              <a:buAutoNum type="arabicPeriod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Relatórios são gerados periodicamente para prestação de contas e auditoria interna.</a:t>
            </a:r>
          </a:p>
        </p:txBody>
      </p:sp>
    </p:spTree>
    <p:extLst>
      <p:ext uri="{BB962C8B-B14F-4D97-AF65-F5344CB8AC3E}">
        <p14:creationId xmlns:p14="http://schemas.microsoft.com/office/powerpoint/2010/main" val="16121165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A7F83-F982-A2B6-8BDD-90AB35D5F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EA76C7-8C08-E029-0E79-750B71C94A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 6"/>
          <p:cNvSpPr/>
          <p:nvPr/>
        </p:nvSpPr>
        <p:spPr>
          <a:xfrm>
            <a:off x="1817511" y="2257778"/>
            <a:ext cx="1817511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BackEnd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7631289" y="2257778"/>
            <a:ext cx="1817511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Front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1927947" y="4893733"/>
            <a:ext cx="928142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DB</a:t>
            </a:r>
            <a:endParaRPr lang="pt-BR" dirty="0"/>
          </a:p>
        </p:txBody>
      </p:sp>
      <p:sp>
        <p:nvSpPr>
          <p:cNvPr id="11" name="Elipse 10"/>
          <p:cNvSpPr/>
          <p:nvPr/>
        </p:nvSpPr>
        <p:spPr>
          <a:xfrm>
            <a:off x="4818298" y="2393244"/>
            <a:ext cx="1512711" cy="13885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API</a:t>
            </a:r>
            <a:endParaRPr lang="pt-BR" dirty="0"/>
          </a:p>
        </p:txBody>
      </p:sp>
      <p:cxnSp>
        <p:nvCxnSpPr>
          <p:cNvPr id="12" name="Conector de Seta Reta 11"/>
          <p:cNvCxnSpPr/>
          <p:nvPr/>
        </p:nvCxnSpPr>
        <p:spPr>
          <a:xfrm flipH="1">
            <a:off x="6536267" y="3150530"/>
            <a:ext cx="101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>
            <a:off x="6513689" y="3533422"/>
            <a:ext cx="880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 flipH="1" flipV="1">
            <a:off x="3872089" y="2912533"/>
            <a:ext cx="632178" cy="22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 flipV="1">
            <a:off x="3910571" y="3251200"/>
            <a:ext cx="725047" cy="45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>
            <a:off x="2392018" y="3984978"/>
            <a:ext cx="0" cy="733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 flipV="1">
            <a:off x="2630311" y="4018844"/>
            <a:ext cx="11289" cy="733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ítulo 1">
            <a:extLst>
              <a:ext uri="{FF2B5EF4-FFF2-40B4-BE49-F238E27FC236}">
                <a16:creationId xmlns:a16="http://schemas.microsoft.com/office/drawing/2014/main" id="{F08859EF-E25E-52C0-C024-DE22738F8749}"/>
              </a:ext>
            </a:extLst>
          </p:cNvPr>
          <p:cNvSpPr txBox="1">
            <a:spLocks/>
          </p:cNvSpPr>
          <p:nvPr/>
        </p:nvSpPr>
        <p:spPr>
          <a:xfrm>
            <a:off x="676938" y="818187"/>
            <a:ext cx="5916168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 smtClean="0"/>
              <a:t>C# . ASP.NET Core</a:t>
            </a:r>
          </a:p>
          <a:p>
            <a:r>
              <a:rPr lang="en-US" sz="2200" dirty="0" smtClean="0"/>
              <a:t>.NET 7</a:t>
            </a:r>
            <a:endParaRPr lang="en-US" sz="2200" dirty="0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F08859EF-E25E-52C0-C024-DE22738F8749}"/>
              </a:ext>
            </a:extLst>
          </p:cNvPr>
          <p:cNvSpPr txBox="1">
            <a:spLocks/>
          </p:cNvSpPr>
          <p:nvPr/>
        </p:nvSpPr>
        <p:spPr>
          <a:xfrm>
            <a:off x="3094381" y="4432187"/>
            <a:ext cx="5916168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 smtClean="0"/>
              <a:t>SQL Server</a:t>
            </a:r>
            <a:endParaRPr lang="en-US" sz="2200" dirty="0"/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F08859EF-E25E-52C0-C024-DE22738F8749}"/>
              </a:ext>
            </a:extLst>
          </p:cNvPr>
          <p:cNvSpPr txBox="1">
            <a:spLocks/>
          </p:cNvSpPr>
          <p:nvPr/>
        </p:nvSpPr>
        <p:spPr>
          <a:xfrm>
            <a:off x="7660015" y="595489"/>
            <a:ext cx="2291032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dirty="0" smtClean="0"/>
              <a:t>HTML, CSS, JS, React </a:t>
            </a:r>
            <a:r>
              <a:rPr lang="en-US" sz="2200" dirty="0" err="1" smtClean="0"/>
              <a:t>ou</a:t>
            </a:r>
            <a:r>
              <a:rPr lang="en-US" sz="2200" dirty="0" smtClean="0"/>
              <a:t> Angular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619570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1DB411-7458-14D3-524B-E30B9046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988" y="-555594"/>
            <a:ext cx="59161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Requisitos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Funcionais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94D168E9-8A27-E555-24A7-0E0A781DEB9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4156496"/>
              </p:ext>
            </p:extLst>
          </p:nvPr>
        </p:nvGraphicFramePr>
        <p:xfrm>
          <a:off x="416988" y="1527048"/>
          <a:ext cx="11380060" cy="257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806">
                  <a:extLst>
                    <a:ext uri="{9D8B030D-6E8A-4147-A177-3AD203B41FA5}">
                      <a16:colId xmlns:a16="http://schemas.microsoft.com/office/drawing/2014/main" val="2067662009"/>
                    </a:ext>
                  </a:extLst>
                </a:gridCol>
                <a:gridCol w="2337926">
                  <a:extLst>
                    <a:ext uri="{9D8B030D-6E8A-4147-A177-3AD203B41FA5}">
                      <a16:colId xmlns:a16="http://schemas.microsoft.com/office/drawing/2014/main" val="3375634270"/>
                    </a:ext>
                  </a:extLst>
                </a:gridCol>
                <a:gridCol w="8300328">
                  <a:extLst>
                    <a:ext uri="{9D8B030D-6E8A-4147-A177-3AD203B41FA5}">
                      <a16:colId xmlns:a16="http://schemas.microsoft.com/office/drawing/2014/main" val="4088907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816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Como usuário desejo fazer o registro dos materiais que serão controlados no sistema almoxarifado. Pode ser material de consumo ou permanentes. Para cada item deve ter (Código, descrição, categoria, quantidade mínima, unidades medida, nome fornecedor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845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Controle De Estoque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Como usuário desejo que tenha uma tela para poder cadastrar as entradas dos produtos por meio de notas fiscais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809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Controle de Saída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Continue...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807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0439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8209A-6CBD-3F3A-0245-B1270A58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ADE68D-5E75-5D63-4B8C-6BEFCE9D06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FEBBD5-D789-5683-1A46-F9DE2DD77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77157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DER [R01]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0" name="Agrupar 49"/>
          <p:cNvGrpSpPr/>
          <p:nvPr/>
        </p:nvGrpSpPr>
        <p:grpSpPr>
          <a:xfrm>
            <a:off x="137979" y="1218152"/>
            <a:ext cx="11783131" cy="5202581"/>
            <a:chOff x="111346" y="729880"/>
            <a:chExt cx="11783131" cy="5202581"/>
          </a:xfrm>
        </p:grpSpPr>
        <p:grpSp>
          <p:nvGrpSpPr>
            <p:cNvPr id="5" name="Agrupar 4"/>
            <p:cNvGrpSpPr/>
            <p:nvPr/>
          </p:nvGrpSpPr>
          <p:grpSpPr>
            <a:xfrm>
              <a:off x="111346" y="738717"/>
              <a:ext cx="3802498" cy="3158536"/>
              <a:chOff x="1229932" y="1804037"/>
              <a:chExt cx="3802498" cy="3158536"/>
            </a:xfrm>
          </p:grpSpPr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39E8B432-F54E-ED48-B2A1-9E05B0A0AC60}"/>
                  </a:ext>
                </a:extLst>
              </p:cNvPr>
              <p:cNvSpPr/>
              <p:nvPr/>
            </p:nvSpPr>
            <p:spPr>
              <a:xfrm>
                <a:off x="3345297" y="4073931"/>
                <a:ext cx="1687133" cy="88864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PRODUTO</a:t>
                </a: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D6DFE2EF-772F-35BA-4CA6-6616D0425D5D}"/>
                  </a:ext>
                </a:extLst>
              </p:cNvPr>
              <p:cNvSpPr/>
              <p:nvPr/>
            </p:nvSpPr>
            <p:spPr>
              <a:xfrm>
                <a:off x="1229932" y="1804037"/>
                <a:ext cx="1687133" cy="88864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CATEGORIA</a:t>
                </a:r>
              </a:p>
            </p:txBody>
          </p:sp>
          <p:sp>
            <p:nvSpPr>
              <p:cNvPr id="9" name="Losango 8">
                <a:extLst>
                  <a:ext uri="{FF2B5EF4-FFF2-40B4-BE49-F238E27FC236}">
                    <a16:creationId xmlns:a16="http://schemas.microsoft.com/office/drawing/2014/main" id="{A0589B58-71D4-387F-B6FD-C4BBFC5DFE56}"/>
                  </a:ext>
                </a:extLst>
              </p:cNvPr>
              <p:cNvSpPr/>
              <p:nvPr/>
            </p:nvSpPr>
            <p:spPr>
              <a:xfrm>
                <a:off x="1658156" y="4194300"/>
                <a:ext cx="785611" cy="647904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18" name="Conector de Seta Reta 17">
                <a:extLst>
                  <a:ext uri="{FF2B5EF4-FFF2-40B4-BE49-F238E27FC236}">
                    <a16:creationId xmlns:a16="http://schemas.microsoft.com/office/drawing/2014/main" id="{C99F8BAD-9514-0635-F42A-11BDC57F2DF8}"/>
                  </a:ext>
                </a:extLst>
              </p:cNvPr>
              <p:cNvCxnSpPr>
                <a:stCxn id="9" idx="3"/>
                <a:endCxn id="6" idx="1"/>
              </p:cNvCxnSpPr>
              <p:nvPr/>
            </p:nvCxnSpPr>
            <p:spPr>
              <a:xfrm>
                <a:off x="2443767" y="4518252"/>
                <a:ext cx="90153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to 18">
                <a:extLst>
                  <a:ext uri="{FF2B5EF4-FFF2-40B4-BE49-F238E27FC236}">
                    <a16:creationId xmlns:a16="http://schemas.microsoft.com/office/drawing/2014/main" id="{6BF6B5B1-6280-4467-738C-9F23631C322C}"/>
                  </a:ext>
                </a:extLst>
              </p:cNvPr>
              <p:cNvCxnSpPr/>
              <p:nvPr/>
            </p:nvCxnSpPr>
            <p:spPr>
              <a:xfrm flipH="1" flipV="1">
                <a:off x="2050960" y="2678189"/>
                <a:ext cx="1" cy="15016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0B3999CC-C262-EF20-322E-845F60C54B47}"/>
                  </a:ext>
                </a:extLst>
              </p:cNvPr>
              <p:cNvSpPr txBox="1"/>
              <p:nvPr/>
            </p:nvSpPr>
            <p:spPr>
              <a:xfrm>
                <a:off x="1267494" y="2722897"/>
                <a:ext cx="1931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 smtClean="0"/>
                  <a:t>1</a:t>
                </a:r>
                <a:endParaRPr lang="pt-BR" dirty="0"/>
              </a:p>
            </p:txBody>
          </p:sp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0B3999CC-C262-EF20-322E-845F60C54B47}"/>
                  </a:ext>
                </a:extLst>
              </p:cNvPr>
              <p:cNvSpPr txBox="1"/>
              <p:nvPr/>
            </p:nvSpPr>
            <p:spPr>
              <a:xfrm>
                <a:off x="2915480" y="4570551"/>
                <a:ext cx="1931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/>
                  <a:t>N</a:t>
                </a:r>
              </a:p>
            </p:txBody>
          </p:sp>
        </p:grpSp>
        <p:sp>
          <p:nvSpPr>
            <p:cNvPr id="8" name="Retângulo 7"/>
            <p:cNvSpPr/>
            <p:nvPr/>
          </p:nvSpPr>
          <p:spPr>
            <a:xfrm>
              <a:off x="2059905" y="729880"/>
              <a:ext cx="2020743" cy="8961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ITENSENTRADA</a:t>
              </a:r>
              <a:endParaRPr lang="pt-BR" dirty="0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2059904" y="5036291"/>
              <a:ext cx="2020743" cy="8961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ITENSSAIDA</a:t>
              </a:r>
              <a:endParaRPr lang="pt-BR" dirty="0"/>
            </a:p>
          </p:txBody>
        </p:sp>
        <p:sp>
          <p:nvSpPr>
            <p:cNvPr id="24" name="Losango 23">
              <a:extLst>
                <a:ext uri="{FF2B5EF4-FFF2-40B4-BE49-F238E27FC236}">
                  <a16:creationId xmlns:a16="http://schemas.microsoft.com/office/drawing/2014/main" id="{A0589B58-71D4-387F-B6FD-C4BBFC5DFE56}"/>
                </a:ext>
              </a:extLst>
            </p:cNvPr>
            <p:cNvSpPr/>
            <p:nvPr/>
          </p:nvSpPr>
          <p:spPr>
            <a:xfrm>
              <a:off x="2677469" y="1963856"/>
              <a:ext cx="785611" cy="647904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7" name="Losango 26">
              <a:extLst>
                <a:ext uri="{FF2B5EF4-FFF2-40B4-BE49-F238E27FC236}">
                  <a16:creationId xmlns:a16="http://schemas.microsoft.com/office/drawing/2014/main" id="{A0589B58-71D4-387F-B6FD-C4BBFC5DFE56}"/>
                </a:ext>
              </a:extLst>
            </p:cNvPr>
            <p:cNvSpPr/>
            <p:nvPr/>
          </p:nvSpPr>
          <p:spPr>
            <a:xfrm>
              <a:off x="2677468" y="4154165"/>
              <a:ext cx="785611" cy="647904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39E8B432-F54E-ED48-B2A1-9E05B0A0AC60}"/>
                </a:ext>
              </a:extLst>
            </p:cNvPr>
            <p:cNvSpPr/>
            <p:nvPr/>
          </p:nvSpPr>
          <p:spPr>
            <a:xfrm>
              <a:off x="6140551" y="5036291"/>
              <a:ext cx="1687133" cy="89617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SAIDA</a:t>
              </a:r>
              <a:endParaRPr lang="pt-BR" dirty="0"/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39E8B432-F54E-ED48-B2A1-9E05B0A0AC60}"/>
                </a:ext>
              </a:extLst>
            </p:cNvPr>
            <p:cNvSpPr/>
            <p:nvPr/>
          </p:nvSpPr>
          <p:spPr>
            <a:xfrm>
              <a:off x="6055784" y="729880"/>
              <a:ext cx="1687133" cy="89617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ENTRADA</a:t>
              </a:r>
              <a:endParaRPr lang="pt-BR" dirty="0"/>
            </a:p>
          </p:txBody>
        </p:sp>
        <p:sp>
          <p:nvSpPr>
            <p:cNvPr id="30" name="Losango 29">
              <a:extLst>
                <a:ext uri="{FF2B5EF4-FFF2-40B4-BE49-F238E27FC236}">
                  <a16:creationId xmlns:a16="http://schemas.microsoft.com/office/drawing/2014/main" id="{A0589B58-71D4-387F-B6FD-C4BBFC5DFE56}"/>
                </a:ext>
              </a:extLst>
            </p:cNvPr>
            <p:cNvSpPr/>
            <p:nvPr/>
          </p:nvSpPr>
          <p:spPr>
            <a:xfrm>
              <a:off x="4702872" y="850249"/>
              <a:ext cx="785611" cy="647904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Losango 30">
              <a:extLst>
                <a:ext uri="{FF2B5EF4-FFF2-40B4-BE49-F238E27FC236}">
                  <a16:creationId xmlns:a16="http://schemas.microsoft.com/office/drawing/2014/main" id="{A0589B58-71D4-387F-B6FD-C4BBFC5DFE56}"/>
                </a:ext>
              </a:extLst>
            </p:cNvPr>
            <p:cNvSpPr/>
            <p:nvPr/>
          </p:nvSpPr>
          <p:spPr>
            <a:xfrm>
              <a:off x="4702871" y="5160424"/>
              <a:ext cx="785611" cy="647904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2" name="Retângulo 31"/>
            <p:cNvSpPr/>
            <p:nvPr/>
          </p:nvSpPr>
          <p:spPr>
            <a:xfrm>
              <a:off x="9873734" y="729880"/>
              <a:ext cx="2020743" cy="8961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FORNECEDOR</a:t>
              </a:r>
              <a:endParaRPr lang="pt-BR" dirty="0"/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9870438" y="5036291"/>
              <a:ext cx="2020743" cy="89617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SECRETARIA</a:t>
              </a:r>
              <a:endParaRPr lang="pt-BR" dirty="0"/>
            </a:p>
          </p:txBody>
        </p:sp>
        <p:sp>
          <p:nvSpPr>
            <p:cNvPr id="34" name="Losango 33">
              <a:extLst>
                <a:ext uri="{FF2B5EF4-FFF2-40B4-BE49-F238E27FC236}">
                  <a16:creationId xmlns:a16="http://schemas.microsoft.com/office/drawing/2014/main" id="{A0589B58-71D4-387F-B6FD-C4BBFC5DFE56}"/>
                </a:ext>
              </a:extLst>
            </p:cNvPr>
            <p:cNvSpPr/>
            <p:nvPr/>
          </p:nvSpPr>
          <p:spPr>
            <a:xfrm>
              <a:off x="8610526" y="859086"/>
              <a:ext cx="785611" cy="647904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5" name="Losango 34">
              <a:extLst>
                <a:ext uri="{FF2B5EF4-FFF2-40B4-BE49-F238E27FC236}">
                  <a16:creationId xmlns:a16="http://schemas.microsoft.com/office/drawing/2014/main" id="{A0589B58-71D4-387F-B6FD-C4BBFC5DFE56}"/>
                </a:ext>
              </a:extLst>
            </p:cNvPr>
            <p:cNvSpPr/>
            <p:nvPr/>
          </p:nvSpPr>
          <p:spPr>
            <a:xfrm>
              <a:off x="8610525" y="5160424"/>
              <a:ext cx="785611" cy="647904"/>
            </a:xfrm>
            <a:prstGeom prst="diamon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36" name="Conector de Seta Reta 35"/>
            <p:cNvCxnSpPr>
              <a:stCxn id="8" idx="2"/>
              <a:endCxn id="6" idx="0"/>
            </p:cNvCxnSpPr>
            <p:nvPr/>
          </p:nvCxnSpPr>
          <p:spPr>
            <a:xfrm>
              <a:off x="3070277" y="1626050"/>
              <a:ext cx="1" cy="13825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2"/>
              <a:endCxn id="23" idx="0"/>
            </p:cNvCxnSpPr>
            <p:nvPr/>
          </p:nvCxnSpPr>
          <p:spPr>
            <a:xfrm flipH="1">
              <a:off x="3070276" y="3897253"/>
              <a:ext cx="2" cy="11390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8" idx="3"/>
              <a:endCxn id="29" idx="1"/>
            </p:cNvCxnSpPr>
            <p:nvPr/>
          </p:nvCxnSpPr>
          <p:spPr>
            <a:xfrm>
              <a:off x="4080648" y="1177965"/>
              <a:ext cx="19751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23" idx="3"/>
              <a:endCxn id="28" idx="1"/>
            </p:cNvCxnSpPr>
            <p:nvPr/>
          </p:nvCxnSpPr>
          <p:spPr>
            <a:xfrm>
              <a:off x="4080647" y="5484376"/>
              <a:ext cx="20599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29" idx="3"/>
              <a:endCxn id="32" idx="1"/>
            </p:cNvCxnSpPr>
            <p:nvPr/>
          </p:nvCxnSpPr>
          <p:spPr>
            <a:xfrm>
              <a:off x="7742917" y="1177965"/>
              <a:ext cx="21308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/>
            <p:cNvCxnSpPr>
              <a:stCxn id="28" idx="3"/>
              <a:endCxn id="33" idx="1"/>
            </p:cNvCxnSpPr>
            <p:nvPr/>
          </p:nvCxnSpPr>
          <p:spPr>
            <a:xfrm>
              <a:off x="7827684" y="5484376"/>
              <a:ext cx="20427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91256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8E265-4279-B925-FBC6-668AF72F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50EF29-A29A-9417-2B09-074C040644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88EF13-93E0-2A25-DAC4-430EED1B9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0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ts val="2500"/>
              </a:spcBef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DICIONÁRIO DE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DADOS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R01]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AE6A2ECC-39B2-D582-178A-3B96D8FBBBF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8478168"/>
              </p:ext>
            </p:extLst>
          </p:nvPr>
        </p:nvGraphicFramePr>
        <p:xfrm>
          <a:off x="566670" y="2250628"/>
          <a:ext cx="1007127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093">
                  <a:extLst>
                    <a:ext uri="{9D8B030D-6E8A-4147-A177-3AD203B41FA5}">
                      <a16:colId xmlns:a16="http://schemas.microsoft.com/office/drawing/2014/main" val="1759235190"/>
                    </a:ext>
                  </a:extLst>
                </a:gridCol>
                <a:gridCol w="3357093">
                  <a:extLst>
                    <a:ext uri="{9D8B030D-6E8A-4147-A177-3AD203B41FA5}">
                      <a16:colId xmlns:a16="http://schemas.microsoft.com/office/drawing/2014/main" val="2611790632"/>
                    </a:ext>
                  </a:extLst>
                </a:gridCol>
                <a:gridCol w="3357093">
                  <a:extLst>
                    <a:ext uri="{9D8B030D-6E8A-4147-A177-3AD203B41FA5}">
                      <a16:colId xmlns:a16="http://schemas.microsoft.com/office/drawing/2014/main" val="2783851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08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Código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Chave Primária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32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Descricao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Varchar</a:t>
                      </a:r>
                      <a:r>
                        <a:rPr lang="pt-BR" dirty="0"/>
                        <a:t>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36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UnidadeMedida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dirty="0" smtClean="0"/>
                        <a:t>(100)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Estoque</a:t>
                      </a:r>
                      <a:r>
                        <a:rPr lang="pt-BR" baseline="0" dirty="0" err="1" smtClean="0"/>
                        <a:t>Atual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double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Somente Leitura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91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Epermanente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Boolean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9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CodigoCategoria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Chave Estrangeira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4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382274"/>
                  </a:ext>
                </a:extLst>
              </a:tr>
            </a:tbl>
          </a:graphicData>
        </a:graphic>
      </p:graphicFrame>
      <p:sp>
        <p:nvSpPr>
          <p:cNvPr id="11" name="Título 1">
            <a:extLst>
              <a:ext uri="{FF2B5EF4-FFF2-40B4-BE49-F238E27FC236}">
                <a16:creationId xmlns:a16="http://schemas.microsoft.com/office/drawing/2014/main" id="{0229AC0A-F8EF-158B-5D49-B06E1612EEDE}"/>
              </a:ext>
            </a:extLst>
          </p:cNvPr>
          <p:cNvSpPr txBox="1">
            <a:spLocks/>
          </p:cNvSpPr>
          <p:nvPr/>
        </p:nvSpPr>
        <p:spPr>
          <a:xfrm>
            <a:off x="468503" y="763524"/>
            <a:ext cx="10517176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2500"/>
              </a:spcBef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Tabela Produto</a:t>
            </a:r>
          </a:p>
        </p:txBody>
      </p:sp>
    </p:spTree>
    <p:extLst>
      <p:ext uri="{BB962C8B-B14F-4D97-AF65-F5344CB8AC3E}">
        <p14:creationId xmlns:p14="http://schemas.microsoft.com/office/powerpoint/2010/main" val="7005924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8E265-4279-B925-FBC6-668AF72F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50EF29-A29A-9417-2B09-074C040644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88EF13-93E0-2A25-DAC4-430EED1B9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0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ts val="2500"/>
              </a:spcBef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DICIONÁRIO DE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DADOS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R01]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AE6A2ECC-39B2-D582-178A-3B96D8FBBBF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37165206"/>
              </p:ext>
            </p:extLst>
          </p:nvPr>
        </p:nvGraphicFramePr>
        <p:xfrm>
          <a:off x="566670" y="2250628"/>
          <a:ext cx="1007127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093">
                  <a:extLst>
                    <a:ext uri="{9D8B030D-6E8A-4147-A177-3AD203B41FA5}">
                      <a16:colId xmlns:a16="http://schemas.microsoft.com/office/drawing/2014/main" val="1759235190"/>
                    </a:ext>
                  </a:extLst>
                </a:gridCol>
                <a:gridCol w="3357093">
                  <a:extLst>
                    <a:ext uri="{9D8B030D-6E8A-4147-A177-3AD203B41FA5}">
                      <a16:colId xmlns:a16="http://schemas.microsoft.com/office/drawing/2014/main" val="2611790632"/>
                    </a:ext>
                  </a:extLst>
                </a:gridCol>
                <a:gridCol w="3357093">
                  <a:extLst>
                    <a:ext uri="{9D8B030D-6E8A-4147-A177-3AD203B41FA5}">
                      <a16:colId xmlns:a16="http://schemas.microsoft.com/office/drawing/2014/main" val="2783851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08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Codigo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Chave Primária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32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Descricao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dirty="0" smtClean="0"/>
                        <a:t>(100)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36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91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9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4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382274"/>
                  </a:ext>
                </a:extLst>
              </a:tr>
            </a:tbl>
          </a:graphicData>
        </a:graphic>
      </p:graphicFrame>
      <p:sp>
        <p:nvSpPr>
          <p:cNvPr id="11" name="Título 1">
            <a:extLst>
              <a:ext uri="{FF2B5EF4-FFF2-40B4-BE49-F238E27FC236}">
                <a16:creationId xmlns:a16="http://schemas.microsoft.com/office/drawing/2014/main" id="{0229AC0A-F8EF-158B-5D49-B06E1612EEDE}"/>
              </a:ext>
            </a:extLst>
          </p:cNvPr>
          <p:cNvSpPr txBox="1">
            <a:spLocks/>
          </p:cNvSpPr>
          <p:nvPr/>
        </p:nvSpPr>
        <p:spPr>
          <a:xfrm>
            <a:off x="468503" y="763524"/>
            <a:ext cx="10517176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2500"/>
              </a:spcBef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Tabela </a:t>
            </a:r>
            <a:r>
              <a:rPr lang="pt-B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Categoria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4810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8E265-4279-B925-FBC6-668AF72F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50EF29-A29A-9417-2B09-074C040644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88EF13-93E0-2A25-DAC4-430EED1B9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0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ts val="2500"/>
              </a:spcBef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DICIONÁRIO DE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DADOS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R01]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AE6A2ECC-39B2-D582-178A-3B96D8FBBBF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41179312"/>
              </p:ext>
            </p:extLst>
          </p:nvPr>
        </p:nvGraphicFramePr>
        <p:xfrm>
          <a:off x="566670" y="2250628"/>
          <a:ext cx="1007127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093">
                  <a:extLst>
                    <a:ext uri="{9D8B030D-6E8A-4147-A177-3AD203B41FA5}">
                      <a16:colId xmlns:a16="http://schemas.microsoft.com/office/drawing/2014/main" val="1759235190"/>
                    </a:ext>
                  </a:extLst>
                </a:gridCol>
                <a:gridCol w="3357093">
                  <a:extLst>
                    <a:ext uri="{9D8B030D-6E8A-4147-A177-3AD203B41FA5}">
                      <a16:colId xmlns:a16="http://schemas.microsoft.com/office/drawing/2014/main" val="2611790632"/>
                    </a:ext>
                  </a:extLst>
                </a:gridCol>
                <a:gridCol w="3357093">
                  <a:extLst>
                    <a:ext uri="{9D8B030D-6E8A-4147-A177-3AD203B41FA5}">
                      <a16:colId xmlns:a16="http://schemas.microsoft.com/office/drawing/2014/main" val="2783851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08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Codigo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Chave Primária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32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Nome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dirty="0" smtClean="0"/>
                        <a:t>(100)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36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91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9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4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382274"/>
                  </a:ext>
                </a:extLst>
              </a:tr>
            </a:tbl>
          </a:graphicData>
        </a:graphic>
      </p:graphicFrame>
      <p:sp>
        <p:nvSpPr>
          <p:cNvPr id="11" name="Título 1">
            <a:extLst>
              <a:ext uri="{FF2B5EF4-FFF2-40B4-BE49-F238E27FC236}">
                <a16:creationId xmlns:a16="http://schemas.microsoft.com/office/drawing/2014/main" id="{0229AC0A-F8EF-158B-5D49-B06E1612EEDE}"/>
              </a:ext>
            </a:extLst>
          </p:cNvPr>
          <p:cNvSpPr txBox="1">
            <a:spLocks/>
          </p:cNvSpPr>
          <p:nvPr/>
        </p:nvSpPr>
        <p:spPr>
          <a:xfrm>
            <a:off x="468503" y="763524"/>
            <a:ext cx="10517176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2500"/>
              </a:spcBef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Tabela </a:t>
            </a:r>
            <a:r>
              <a:rPr lang="pt-B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Fornecedor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655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8E265-4279-B925-FBC6-668AF72F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50EF29-A29A-9417-2B09-074C040644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88EF13-93E0-2A25-DAC4-430EED1B9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03" y="0"/>
            <a:ext cx="1051717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ts val="2500"/>
              </a:spcBef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DICIONÁRIO DE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DADOS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R01]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AE6A2ECC-39B2-D582-178A-3B96D8FBBBF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3270597"/>
              </p:ext>
            </p:extLst>
          </p:nvPr>
        </p:nvGraphicFramePr>
        <p:xfrm>
          <a:off x="566670" y="2250628"/>
          <a:ext cx="1007127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093">
                  <a:extLst>
                    <a:ext uri="{9D8B030D-6E8A-4147-A177-3AD203B41FA5}">
                      <a16:colId xmlns:a16="http://schemas.microsoft.com/office/drawing/2014/main" val="1759235190"/>
                    </a:ext>
                  </a:extLst>
                </a:gridCol>
                <a:gridCol w="3357093">
                  <a:extLst>
                    <a:ext uri="{9D8B030D-6E8A-4147-A177-3AD203B41FA5}">
                      <a16:colId xmlns:a16="http://schemas.microsoft.com/office/drawing/2014/main" val="2611790632"/>
                    </a:ext>
                  </a:extLst>
                </a:gridCol>
                <a:gridCol w="3357093">
                  <a:extLst>
                    <a:ext uri="{9D8B030D-6E8A-4147-A177-3AD203B41FA5}">
                      <a16:colId xmlns:a16="http://schemas.microsoft.com/office/drawing/2014/main" val="2783851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086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Codigo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Chave Primária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32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Descricao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Varchar</a:t>
                      </a:r>
                      <a:r>
                        <a:rPr lang="pt-BR" dirty="0" smtClean="0"/>
                        <a:t>(100)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368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Codigofornecedor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Chave estrangeira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Itensentrada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91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data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database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39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horario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149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382274"/>
                  </a:ext>
                </a:extLst>
              </a:tr>
            </a:tbl>
          </a:graphicData>
        </a:graphic>
      </p:graphicFrame>
      <p:sp>
        <p:nvSpPr>
          <p:cNvPr id="11" name="Título 1">
            <a:extLst>
              <a:ext uri="{FF2B5EF4-FFF2-40B4-BE49-F238E27FC236}">
                <a16:creationId xmlns:a16="http://schemas.microsoft.com/office/drawing/2014/main" id="{0229AC0A-F8EF-158B-5D49-B06E1612EEDE}"/>
              </a:ext>
            </a:extLst>
          </p:cNvPr>
          <p:cNvSpPr txBox="1">
            <a:spLocks/>
          </p:cNvSpPr>
          <p:nvPr/>
        </p:nvSpPr>
        <p:spPr>
          <a:xfrm>
            <a:off x="468503" y="763524"/>
            <a:ext cx="10517176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2500"/>
              </a:spcBef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Tabela </a:t>
            </a:r>
            <a:r>
              <a:rPr lang="pt-B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ENTRADA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7753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CDB794-FD66-B57C-5DB2-D14CF7301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295" y="2665927"/>
            <a:ext cx="5916168" cy="919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Wireframe</a:t>
            </a: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737096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Formulário web de login">
            <a:extLst>
              <a:ext uri="{FF2B5EF4-FFF2-40B4-BE49-F238E27FC236}">
                <a16:creationId xmlns:a16="http://schemas.microsoft.com/office/drawing/2014/main" id="{9574661C-9C71-44C7-9C38-D5812FB73B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7263" r="22617" b="1"/>
          <a:stretch/>
        </p:blipFill>
        <p:spPr>
          <a:xfrm>
            <a:off x="1403817" y="1133346"/>
            <a:ext cx="3748431" cy="523525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2C8C7F8-6A55-1DF8-3A33-F776C9F8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415" y="218946"/>
            <a:ext cx="59161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Tela de Login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08859EF-E25E-52C0-C024-DE22738F8749}"/>
              </a:ext>
            </a:extLst>
          </p:cNvPr>
          <p:cNvSpPr txBox="1">
            <a:spLocks/>
          </p:cNvSpPr>
          <p:nvPr/>
        </p:nvSpPr>
        <p:spPr>
          <a:xfrm>
            <a:off x="414841" y="-695454"/>
            <a:ext cx="5916168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Wireframe</a:t>
            </a:r>
          </a:p>
        </p:txBody>
      </p:sp>
    </p:spTree>
    <p:extLst>
      <p:ext uri="{BB962C8B-B14F-4D97-AF65-F5344CB8AC3E}">
        <p14:creationId xmlns:p14="http://schemas.microsoft.com/office/powerpoint/2010/main" val="103755768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C8C7F8-6A55-1DF8-3A33-F776C9F8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771" y="-695454"/>
            <a:ext cx="59161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Tela</a:t>
            </a:r>
            <a:r>
              <a:rPr lang="en-US" b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Produto</a:t>
            </a:r>
            <a:endParaRPr lang="en-US" b="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08859EF-E25E-52C0-C024-DE22738F8749}"/>
              </a:ext>
            </a:extLst>
          </p:cNvPr>
          <p:cNvSpPr txBox="1">
            <a:spLocks/>
          </p:cNvSpPr>
          <p:nvPr/>
        </p:nvSpPr>
        <p:spPr>
          <a:xfrm>
            <a:off x="414841" y="-695454"/>
            <a:ext cx="5916168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Wireframe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44222" y="1224844"/>
            <a:ext cx="10193866" cy="53170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1044222" y="1224844"/>
            <a:ext cx="10193866" cy="3894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10803466" y="1255888"/>
            <a:ext cx="293511" cy="30220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x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2689946" y="2201558"/>
            <a:ext cx="1735298" cy="3894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2C8C7F8-6A55-1DF8-3A33-F776C9F854B3}"/>
              </a:ext>
            </a:extLst>
          </p:cNvPr>
          <p:cNvSpPr txBox="1">
            <a:spLocks/>
          </p:cNvSpPr>
          <p:nvPr/>
        </p:nvSpPr>
        <p:spPr>
          <a:xfrm>
            <a:off x="1557459" y="1063977"/>
            <a:ext cx="5916168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0" dirty="0" err="1" smtClean="0"/>
              <a:t>Código</a:t>
            </a:r>
            <a:endParaRPr lang="en-US" sz="2000" b="0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2C8C7F8-6A55-1DF8-3A33-F776C9F854B3}"/>
              </a:ext>
            </a:extLst>
          </p:cNvPr>
          <p:cNvSpPr txBox="1">
            <a:spLocks/>
          </p:cNvSpPr>
          <p:nvPr/>
        </p:nvSpPr>
        <p:spPr>
          <a:xfrm>
            <a:off x="1286538" y="2580272"/>
            <a:ext cx="5916168" cy="5503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0" dirty="0" err="1" smtClean="0"/>
              <a:t>Descrição</a:t>
            </a:r>
            <a:endParaRPr lang="en-US" sz="2000" b="0" dirty="0"/>
          </a:p>
        </p:txBody>
      </p:sp>
      <p:sp>
        <p:nvSpPr>
          <p:cNvPr id="14" name="Retângulo 13"/>
          <p:cNvSpPr/>
          <p:nvPr/>
        </p:nvSpPr>
        <p:spPr>
          <a:xfrm>
            <a:off x="2689945" y="2730386"/>
            <a:ext cx="5325165" cy="3894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smtClean="0"/>
              <a:t>Café </a:t>
            </a:r>
            <a:r>
              <a:rPr lang="pt-BR" dirty="0" err="1" smtClean="0"/>
              <a:t>Estan</a:t>
            </a:r>
            <a:endParaRPr lang="pt-BR" dirty="0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2C8C7F8-6A55-1DF8-3A33-F776C9F854B3}"/>
              </a:ext>
            </a:extLst>
          </p:cNvPr>
          <p:cNvSpPr txBox="1">
            <a:spLocks/>
          </p:cNvSpPr>
          <p:nvPr/>
        </p:nvSpPr>
        <p:spPr>
          <a:xfrm>
            <a:off x="1467160" y="3119853"/>
            <a:ext cx="5916168" cy="5503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0" dirty="0" err="1" smtClean="0"/>
              <a:t>Unidade</a:t>
            </a:r>
            <a:endParaRPr lang="en-US" sz="2000" b="0" dirty="0"/>
          </a:p>
        </p:txBody>
      </p:sp>
      <p:sp>
        <p:nvSpPr>
          <p:cNvPr id="16" name="Retângulo 15"/>
          <p:cNvSpPr/>
          <p:nvPr/>
        </p:nvSpPr>
        <p:spPr>
          <a:xfrm>
            <a:off x="2689946" y="3265308"/>
            <a:ext cx="1735298" cy="389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Triângulo isósceles 8"/>
          <p:cNvSpPr/>
          <p:nvPr/>
        </p:nvSpPr>
        <p:spPr>
          <a:xfrm rot="10800000">
            <a:off x="4188178" y="3318281"/>
            <a:ext cx="237066" cy="28352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Arredondado 16"/>
          <p:cNvSpPr/>
          <p:nvPr/>
        </p:nvSpPr>
        <p:spPr>
          <a:xfrm>
            <a:off x="6953249" y="5048250"/>
            <a:ext cx="1190625" cy="3143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Salvar</a:t>
            </a:r>
            <a:endParaRPr lang="pt-BR" dirty="0"/>
          </a:p>
        </p:txBody>
      </p:sp>
      <p:sp>
        <p:nvSpPr>
          <p:cNvPr id="18" name="Retângulo Arredondado 17"/>
          <p:cNvSpPr/>
          <p:nvPr/>
        </p:nvSpPr>
        <p:spPr>
          <a:xfrm>
            <a:off x="5735696" y="5048249"/>
            <a:ext cx="1190625" cy="31432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Cancelar</a:t>
            </a:r>
            <a:endParaRPr lang="pt-BR" dirty="0"/>
          </a:p>
        </p:txBody>
      </p:sp>
      <p:sp>
        <p:nvSpPr>
          <p:cNvPr id="19" name="Retângulo Arredondado 18"/>
          <p:cNvSpPr/>
          <p:nvPr/>
        </p:nvSpPr>
        <p:spPr>
          <a:xfrm>
            <a:off x="4425244" y="5048248"/>
            <a:ext cx="1190625" cy="3143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Voltar</a:t>
            </a:r>
            <a:endParaRPr lang="pt-BR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9415640" y="3205335"/>
            <a:ext cx="17811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Quando em modo edição e o cursor estiver no campo o fundo deve ficar verde.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63669653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D9284D-EDF1-4C67-C63F-C7E773F77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353" y="138594"/>
            <a:ext cx="10336871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UML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470043-6B1C-57FC-4F15-0FAD899F9E73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 xmlns="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19262" y="1905189"/>
            <a:ext cx="11032331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pt-BR" sz="1400" b="1" dirty="0"/>
              <a:t>Usar um diagrama UML: pode ser de atividade,</a:t>
            </a:r>
            <a:r>
              <a:rPr lang="pt-BR" sz="1400" dirty="0"/>
              <a:t> estado</a:t>
            </a:r>
          </a:p>
        </p:txBody>
      </p:sp>
    </p:spTree>
    <p:extLst>
      <p:ext uri="{BB962C8B-B14F-4D97-AF65-F5344CB8AC3E}">
        <p14:creationId xmlns:p14="http://schemas.microsoft.com/office/powerpoint/2010/main" val="3395640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1800</Words>
  <Application>Microsoft Office PowerPoint</Application>
  <PresentationFormat>Widescreen</PresentationFormat>
  <Paragraphs>192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Aptos</vt:lpstr>
      <vt:lpstr>Arial</vt:lpstr>
      <vt:lpstr>Neue Haas Grotesk Text Pro</vt:lpstr>
      <vt:lpstr>VanillaVTI</vt:lpstr>
      <vt:lpstr>PROJETO  ALMOXARIFADO</vt:lpstr>
      <vt:lpstr>Introdução ao projeto</vt:lpstr>
      <vt:lpstr>CENÁRIO</vt:lpstr>
      <vt:lpstr>Cadastro de Produtos:</vt:lpstr>
      <vt:lpstr>Controle de Estoque:</vt:lpstr>
      <vt:lpstr>Gestão de Requisições:</vt:lpstr>
      <vt:lpstr>Relatórios e Transparência:</vt:lpstr>
      <vt:lpstr>Controle de Usuários e Permissões:</vt:lpstr>
      <vt:lpstr>Controle de Usuários e Permissões:</vt:lpstr>
      <vt:lpstr>Resumo do Fluxo do Sistema</vt:lpstr>
      <vt:lpstr>Apresentação do PowerPoint</vt:lpstr>
      <vt:lpstr>Requisitos Funcionais</vt:lpstr>
      <vt:lpstr>DER [R01]</vt:lpstr>
      <vt:lpstr>DICIONÁRIO DE DADOS [R01]</vt:lpstr>
      <vt:lpstr>DICIONÁRIO DE DADOS [R01]</vt:lpstr>
      <vt:lpstr>DICIONÁRIO DE DADOS [R01]</vt:lpstr>
      <vt:lpstr>DICIONÁRIO DE DADOS [R01]</vt:lpstr>
      <vt:lpstr>Wireframe</vt:lpstr>
      <vt:lpstr>Tela de Login</vt:lpstr>
      <vt:lpstr>Tela Produto</vt:lpstr>
      <vt:lpstr>Diagrama UML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 ALMOXARIFADO</dc:title>
  <dc:creator>Reginaldo Reis</dc:creator>
  <cp:lastModifiedBy>Manha Cetafest</cp:lastModifiedBy>
  <cp:revision>15</cp:revision>
  <dcterms:created xsi:type="dcterms:W3CDTF">2025-01-20T01:59:29Z</dcterms:created>
  <dcterms:modified xsi:type="dcterms:W3CDTF">2025-01-27T14:20:27Z</dcterms:modified>
</cp:coreProperties>
</file>